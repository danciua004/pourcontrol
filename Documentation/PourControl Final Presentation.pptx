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EB Garamond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BGaramond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EBGaramon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EBGaramond-bold.fntdata"/><Relationship Id="rId6" Type="http://schemas.openxmlformats.org/officeDocument/2006/relationships/slide" Target="slides/slide1.xml"/><Relationship Id="rId18" Type="http://schemas.openxmlformats.org/officeDocument/2006/relationships/font" Target="fonts/EBGaramon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Alanis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46a2a80edce2261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46a2a80edce2261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Alanis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46a2a80edce2261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h46a2a80edce2261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Each of us introduce ourselves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46a2a80edce22614_19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46a2a80edce22614_19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Alanis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46a2a80edce2261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h46a2a80edce2261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Alexandra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slide shows the overall class diagram for our bar management system.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It illustrates how our main data classes, services, repositories, and controllers work together to manage cocktail recipes, ingredient stock levels, daily sales, and reporting.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controllers handle the HTTP requests from the frontend.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service layer handles the business logic and the API calls.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repositories handle reading and writing to the database.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### DTOs ###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Starting at the top, we have our data classes, which represent the main entities in our system.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Cocktail class stores information about each cocktail, including its name, its recipe and the ingredients required to make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StockIngredient class represents the ingredients we hold in stock. This allows us to monitor inventory and identify when ingredients need to be reordered.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We also have the RecipeIngredient class, which connects cocktails to their ingredients and stores the minimum required quantity for each ingredient in a recipe.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DailySale class records the number of cocktails sold on a particular date, while the DailyAudit class records the opening and closing stock levels of ingredients.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These two classes are particularly important for calculating stock usage and generating daily reports.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Finally, the Menu class holds the cocktails currently available on the menu.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### Cocktail ###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Moving down to the cocktail section, this is where we handle adding and removing cocktails from our menu.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CocktailServiceImpl is responsible for retrieving information from an external API.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a cocktail is added, the service calls the API, parses the returned JSON data, and converts the information into our own Java objects.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It identifies the ingredients required for the cocktail, checks whether those ingredients already exist in our database, and creates any missing ingredient records.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Next, it creates the recipe entrie and saves the cocktail's instructions.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### Stock Management ###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Next, we have the stock management section, which is one of the most important parts of the system.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StockServiceImpl handles the main operations relating to ingredient inventory.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It allows us to update the remaining quantity of an ingredient and change its target stock level. This helps us keep inventory information accurate and maintain appropriate stock levels.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service also processes daily sales and stock audits.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### Reporting ###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Finally, we have the reporting section.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ReportServiceImpl uses the ingredient, daily sale, and daily audit repositories to generate reports based on the data collected by the system.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One of its main functions is generating a variance report for a specific date.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service calculates the expected ingredient consumption based on the cocktails sold and their recipes, then compares this with the stock information recorded in the daily audits.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This allows us to identify differences between expected and actual stock consumption.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reporting service also calculates reorder quantities by comparing the current stock levels with the minimum and target stock levels defined for each ingredient.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46a2a80edce22614_19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h46a2a80edce22614_19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Alanis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46a2a80edce22614_19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46a2a80edce22614_19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Alanis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46a2a80edce22614_19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h46a2a80edce22614_19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Ahmed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46a2a80edce2261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h46a2a80edce2261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Kian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46a2a80edce22614_8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46a2a80edce22614_8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Ahmed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46a2a80edce2261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46a2a80edce2261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Ahmed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46a2a80edce2261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46a2a80edce2261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Kian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8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2.jpg"/><Relationship Id="rId5" Type="http://schemas.openxmlformats.org/officeDocument/2006/relationships/image" Target="../media/image5.jp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414300" y="1905450"/>
            <a:ext cx="4649700" cy="1332600"/>
          </a:xfrm>
          <a:prstGeom prst="plaque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2782400" y="1639075"/>
            <a:ext cx="3913500" cy="11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Pour Control</a:t>
            </a:r>
            <a:endParaRPr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2414300" y="2571750"/>
            <a:ext cx="4649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80000"/>
                </a:solidFill>
                <a:latin typeface="EB Garamond"/>
                <a:ea typeface="EB Garamond"/>
                <a:cs typeface="EB Garamond"/>
                <a:sym typeface="EB Garamond"/>
              </a:rPr>
              <a:t>Bar Management System</a:t>
            </a:r>
            <a:endParaRPr>
              <a:solidFill>
                <a:srgbClr val="98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308425" y="178900"/>
            <a:ext cx="1826700" cy="745500"/>
          </a:xfrm>
          <a:prstGeom prst="plaque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eorgia"/>
                <a:ea typeface="Georgia"/>
                <a:cs typeface="Georgia"/>
                <a:sym typeface="Georgia"/>
              </a:rPr>
              <a:t>Overview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355025" y="1129325"/>
            <a:ext cx="5395200" cy="304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eorgia"/>
              <a:buChar char="●"/>
            </a:pPr>
            <a:r>
              <a:rPr lang="en-GB" sz="1600">
                <a:latin typeface="Georgia"/>
                <a:ea typeface="Georgia"/>
                <a:cs typeface="Georgia"/>
                <a:sym typeface="Georgia"/>
              </a:rPr>
              <a:t>Bar management web application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eorgia"/>
              <a:buChar char="●"/>
            </a:pPr>
            <a:r>
              <a:rPr lang="en-GB" sz="1600">
                <a:latin typeface="Georgia"/>
                <a:ea typeface="Georgia"/>
                <a:cs typeface="Georgia"/>
                <a:sym typeface="Georgia"/>
              </a:rPr>
              <a:t>Helps with tracking ingredient stock and usage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eorgia"/>
              <a:buChar char="●"/>
            </a:pPr>
            <a:r>
              <a:rPr lang="en-GB" sz="1600">
                <a:latin typeface="Georgia"/>
                <a:ea typeface="Georgia"/>
                <a:cs typeface="Georgia"/>
                <a:sym typeface="Georgia"/>
              </a:rPr>
              <a:t>Poor management can result in lack of ingredients or overstocking, difficulty managing menu changes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eorgia"/>
              <a:buChar char="●"/>
            </a:pPr>
            <a:r>
              <a:rPr lang="en-GB" sz="1600">
                <a:latin typeface="Georgia"/>
                <a:ea typeface="Georgia"/>
                <a:cs typeface="Georgia"/>
                <a:sym typeface="Georgia"/>
              </a:rPr>
              <a:t>Pour Control allows users to manage inventory, menu items, and calculate ingredient requirements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308425" y="178900"/>
            <a:ext cx="2022000" cy="745500"/>
          </a:xfrm>
          <a:prstGeom prst="plaque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eorgia"/>
                <a:ea typeface="Georgia"/>
                <a:cs typeface="Georgia"/>
                <a:sym typeface="Georgia"/>
              </a:rPr>
              <a:t>Our Team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578650" y="1259775"/>
            <a:ext cx="1770300" cy="304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/>
                <a:ea typeface="Georgia"/>
                <a:cs typeface="Georgia"/>
                <a:sym typeface="Georgia"/>
              </a:rPr>
              <a:t>Kian Delamarre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/>
                <a:ea typeface="Georgia"/>
                <a:cs typeface="Georgia"/>
                <a:sym typeface="Georgia"/>
              </a:rPr>
              <a:t>Front end / Middle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2600650" y="1259775"/>
            <a:ext cx="1770300" cy="304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/>
                <a:ea typeface="Georgia"/>
                <a:cs typeface="Georgia"/>
                <a:sym typeface="Georgia"/>
              </a:rPr>
              <a:t>Alexandra Danciu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/>
                <a:ea typeface="Georgia"/>
                <a:cs typeface="Georgia"/>
                <a:sym typeface="Georgia"/>
              </a:rPr>
              <a:t>Middle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4703825" y="1259775"/>
            <a:ext cx="1770300" cy="304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/>
                <a:ea typeface="Georgia"/>
                <a:cs typeface="Georgia"/>
                <a:sym typeface="Georgia"/>
              </a:rPr>
              <a:t>Ahmed Ewas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/>
                <a:ea typeface="Georgia"/>
                <a:cs typeface="Georgia"/>
                <a:sym typeface="Georgia"/>
              </a:rPr>
              <a:t>Middle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6691850" y="1259775"/>
            <a:ext cx="1770300" cy="304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/>
                <a:ea typeface="Georgia"/>
                <a:cs typeface="Georgia"/>
                <a:sym typeface="Georgia"/>
              </a:rPr>
              <a:t>Alanis Ballans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/>
                <a:ea typeface="Georgia"/>
                <a:cs typeface="Georgia"/>
                <a:sym typeface="Georgia"/>
              </a:rPr>
              <a:t>Back end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6812" y="1379700"/>
            <a:ext cx="1640400" cy="1725000"/>
          </a:xfrm>
          <a:prstGeom prst="plaque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3" name="Google Shape;73;p15" title="imag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5588" y="1421989"/>
            <a:ext cx="1640400" cy="1640400"/>
          </a:xfrm>
          <a:prstGeom prst="plaque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4" name="Google Shape;74;p15" title="1768925879147.jpeg"/>
          <p:cNvPicPr preferRelativeResize="0"/>
          <p:nvPr/>
        </p:nvPicPr>
        <p:blipFill rotWithShape="1">
          <a:blip r:embed="rId5">
            <a:alphaModFix/>
          </a:blip>
          <a:srcRect b="0" l="0" r="4907" t="0"/>
          <a:stretch/>
        </p:blipFill>
        <p:spPr>
          <a:xfrm>
            <a:off x="627375" y="1379709"/>
            <a:ext cx="1640400" cy="1725000"/>
          </a:xfrm>
          <a:prstGeom prst="plaque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 rotWithShape="1">
          <a:blip r:embed="rId6">
            <a:alphaModFix/>
          </a:blip>
          <a:srcRect b="25882" l="0" r="0" t="0"/>
          <a:stretch/>
        </p:blipFill>
        <p:spPr>
          <a:xfrm>
            <a:off x="4826075" y="1379700"/>
            <a:ext cx="1525800" cy="1725000"/>
          </a:xfrm>
          <a:prstGeom prst="plaque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308425" y="178900"/>
            <a:ext cx="1826700" cy="745500"/>
          </a:xfrm>
          <a:prstGeom prst="plaque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eorgia"/>
                <a:ea typeface="Georgia"/>
                <a:cs typeface="Georgia"/>
                <a:sym typeface="Georgia"/>
              </a:rPr>
              <a:t>Features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355025" y="1129325"/>
            <a:ext cx="5395200" cy="304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View inventory list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Updated quantities in the inventory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View Menu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Add drinks to menu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Auto add ingredients for drink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Add recipe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Cocktail browser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Delete drink from menu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Calculate ingredient amounts to fulfill menu per week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View recipes for menu drinks</a:t>
            </a:r>
            <a:endParaRPr sz="19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/>
          <p:nvPr/>
        </p:nvSpPr>
        <p:spPr>
          <a:xfrm>
            <a:off x="308425" y="178900"/>
            <a:ext cx="2541000" cy="745500"/>
          </a:xfrm>
          <a:prstGeom prst="plaque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eorgia"/>
                <a:ea typeface="Georgia"/>
                <a:cs typeface="Georgia"/>
                <a:sym typeface="Georgia"/>
              </a:rPr>
              <a:t>System Organisation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308425" y="1043850"/>
            <a:ext cx="2541000" cy="745500"/>
          </a:xfrm>
          <a:prstGeom prst="plaque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eorgia"/>
                <a:ea typeface="Georgia"/>
                <a:cs typeface="Georgia"/>
                <a:sym typeface="Georgia"/>
              </a:rPr>
              <a:t>UML Diagram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8" name="Google Shape;88;p17" title="Team 2 Final Project Planning-Class Diagra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4550" y="152396"/>
            <a:ext cx="582816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/>
          <p:nvPr/>
        </p:nvSpPr>
        <p:spPr>
          <a:xfrm>
            <a:off x="186100" y="178900"/>
            <a:ext cx="2493300" cy="745500"/>
          </a:xfrm>
          <a:prstGeom prst="plaque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eorgia"/>
                <a:ea typeface="Georgia"/>
                <a:cs typeface="Georgia"/>
                <a:sym typeface="Georgia"/>
              </a:rPr>
              <a:t>System Organisation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186025" y="1021500"/>
            <a:ext cx="2493300" cy="745500"/>
          </a:xfrm>
          <a:prstGeom prst="plaque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eorgia"/>
                <a:ea typeface="Georgia"/>
                <a:cs typeface="Georgia"/>
                <a:sym typeface="Georgia"/>
              </a:rPr>
              <a:t>ERD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95" name="Google Shape;95;p18" title="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1900" y="697138"/>
            <a:ext cx="6159876" cy="3749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/>
          <p:nvPr/>
        </p:nvSpPr>
        <p:spPr>
          <a:xfrm>
            <a:off x="308425" y="223625"/>
            <a:ext cx="2358000" cy="700800"/>
          </a:xfrm>
          <a:prstGeom prst="plaque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eorgia"/>
                <a:ea typeface="Georgia"/>
                <a:cs typeface="Georgia"/>
                <a:sym typeface="Georgia"/>
              </a:rPr>
              <a:t>External API: Spoonacular 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355025" y="1129325"/>
            <a:ext cx="5395200" cy="304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eorgia"/>
                <a:ea typeface="Georgia"/>
                <a:cs typeface="Georgia"/>
                <a:sym typeface="Georgia"/>
              </a:rPr>
              <a:t>Flow: 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rgia"/>
              <a:buAutoNum type="arabicPeriod"/>
            </a:pPr>
            <a:r>
              <a:rPr b="1" lang="en-GB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Search</a:t>
            </a:r>
            <a:r>
              <a:rPr lang="en-GB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drink name → recipe ID</a:t>
            </a:r>
            <a:endParaRPr sz="1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rgia"/>
              <a:buAutoNum type="arabicPeriod"/>
            </a:pPr>
            <a:r>
              <a:rPr b="1" lang="en-GB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Fetch</a:t>
            </a:r>
            <a:r>
              <a:rPr lang="en-GB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ingredients, amounts, instructions</a:t>
            </a:r>
            <a:endParaRPr sz="1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rgia"/>
              <a:buAutoNum type="arabicPeriod"/>
            </a:pPr>
            <a:r>
              <a:rPr b="1" lang="en-GB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Convert</a:t>
            </a:r>
            <a:r>
              <a:rPr lang="en-GB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units → millilitres</a:t>
            </a:r>
            <a:endParaRPr sz="1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rgia"/>
              <a:buAutoNum type="arabicPeriod"/>
            </a:pPr>
            <a:r>
              <a:rPr b="1" lang="en-GB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Save</a:t>
            </a:r>
            <a:r>
              <a:rPr lang="en-GB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cocktail, ingredients and recipe amounts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8475" y="1686412"/>
            <a:ext cx="1932950" cy="193295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/>
          <p:nvPr/>
        </p:nvSpPr>
        <p:spPr>
          <a:xfrm>
            <a:off x="308425" y="178900"/>
            <a:ext cx="2241300" cy="745500"/>
          </a:xfrm>
          <a:prstGeom prst="plaque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eorgia"/>
                <a:ea typeface="Georgia"/>
                <a:cs typeface="Georgia"/>
                <a:sym typeface="Georgia"/>
              </a:rPr>
              <a:t>Technology Stack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8" name="Google Shape;108;p20"/>
          <p:cNvSpPr/>
          <p:nvPr/>
        </p:nvSpPr>
        <p:spPr>
          <a:xfrm>
            <a:off x="355025" y="1129325"/>
            <a:ext cx="5395200" cy="3492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eorgia"/>
              <a:buChar char="●"/>
            </a:pPr>
            <a:r>
              <a:rPr lang="en-GB" sz="1600">
                <a:latin typeface="Georgia"/>
                <a:ea typeface="Georgia"/>
                <a:cs typeface="Georgia"/>
                <a:sym typeface="Georgia"/>
              </a:rPr>
              <a:t>Spring</a:t>
            </a:r>
            <a:r>
              <a:rPr lang="en-GB" sz="1600">
                <a:latin typeface="Georgia"/>
                <a:ea typeface="Georgia"/>
                <a:cs typeface="Georgia"/>
                <a:sym typeface="Georgia"/>
              </a:rPr>
              <a:t> DI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eorgia"/>
              <a:buChar char="●"/>
            </a:pPr>
            <a:r>
              <a:rPr lang="en-GB" sz="1600">
                <a:latin typeface="Georgia"/>
                <a:ea typeface="Georgia"/>
                <a:cs typeface="Georgia"/>
                <a:sym typeface="Georgia"/>
              </a:rPr>
              <a:t>Spring Boot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eorgia"/>
              <a:buChar char="●"/>
            </a:pPr>
            <a:r>
              <a:rPr lang="en-GB" sz="1600">
                <a:latin typeface="Georgia"/>
                <a:ea typeface="Georgia"/>
                <a:cs typeface="Georgia"/>
                <a:sym typeface="Georgia"/>
              </a:rPr>
              <a:t>REST Template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eorgia"/>
              <a:buChar char="●"/>
            </a:pPr>
            <a:r>
              <a:rPr lang="en-GB" sz="1600">
                <a:latin typeface="Georgia"/>
                <a:ea typeface="Georgia"/>
                <a:cs typeface="Georgia"/>
                <a:sym typeface="Georgia"/>
              </a:rPr>
              <a:t>MySQL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eorgia"/>
              <a:buChar char="●"/>
            </a:pPr>
            <a:r>
              <a:rPr lang="en-GB" sz="1600">
                <a:latin typeface="Georgia"/>
                <a:ea typeface="Georgia"/>
                <a:cs typeface="Georgia"/>
                <a:sym typeface="Georgia"/>
              </a:rPr>
              <a:t>JPA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eorgia"/>
              <a:buChar char="●"/>
            </a:pPr>
            <a:r>
              <a:rPr lang="en-GB" sz="1600">
                <a:latin typeface="Georgia"/>
                <a:ea typeface="Georgia"/>
                <a:cs typeface="Georgia"/>
                <a:sym typeface="Georgia"/>
              </a:rPr>
              <a:t>React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9050" y="1163050"/>
            <a:ext cx="385675" cy="38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6900" y="1657175"/>
            <a:ext cx="385675" cy="38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2000" y="2129500"/>
            <a:ext cx="385675" cy="38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 title="MySQL-Logo.wi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4628" y="2571748"/>
            <a:ext cx="622577" cy="41495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3" name="Google Shape;113;p20" title="image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0925" y="3580325"/>
            <a:ext cx="495875" cy="452425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50079" y="3053654"/>
            <a:ext cx="431703" cy="452425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/>
          <p:nvPr/>
        </p:nvSpPr>
        <p:spPr>
          <a:xfrm>
            <a:off x="3118150" y="1967950"/>
            <a:ext cx="2580000" cy="745500"/>
          </a:xfrm>
          <a:prstGeom prst="plaque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eorgia"/>
                <a:ea typeface="Georgia"/>
                <a:cs typeface="Georgia"/>
                <a:sym typeface="Georgia"/>
              </a:rPr>
              <a:t>Next: Demonstration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/>
          <p:nvPr/>
        </p:nvSpPr>
        <p:spPr>
          <a:xfrm>
            <a:off x="308425" y="178900"/>
            <a:ext cx="2098200" cy="745500"/>
          </a:xfrm>
          <a:prstGeom prst="plaque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eorgia"/>
                <a:ea typeface="Georgia"/>
                <a:cs typeface="Georgia"/>
                <a:sym typeface="Georgia"/>
              </a:rPr>
              <a:t>Lessons Learned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5" name="Google Shape;125;p22"/>
          <p:cNvSpPr/>
          <p:nvPr/>
        </p:nvSpPr>
        <p:spPr>
          <a:xfrm>
            <a:off x="355025" y="1129325"/>
            <a:ext cx="5395200" cy="304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eorgia"/>
              <a:buChar char="●"/>
            </a:pPr>
            <a:r>
              <a:rPr lang="en-GB" sz="1600">
                <a:latin typeface="Georgia"/>
                <a:ea typeface="Georgia"/>
                <a:cs typeface="Georgia"/>
                <a:sym typeface="Georgia"/>
              </a:rPr>
              <a:t>Naming conventions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eorgia"/>
              <a:buChar char="●"/>
            </a:pPr>
            <a:r>
              <a:rPr lang="en-GB" sz="1600">
                <a:latin typeface="Georgia"/>
                <a:ea typeface="Georgia"/>
                <a:cs typeface="Georgia"/>
                <a:sym typeface="Georgia"/>
              </a:rPr>
              <a:t>Planning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eorgia"/>
              <a:buChar char="○"/>
            </a:pPr>
            <a:r>
              <a:rPr lang="en-GB" sz="1600">
                <a:latin typeface="Georgia"/>
                <a:ea typeface="Georgia"/>
                <a:cs typeface="Georgia"/>
                <a:sym typeface="Georgia"/>
              </a:rPr>
              <a:t>Deciding java version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eorgia"/>
              <a:buChar char="○"/>
            </a:pPr>
            <a:r>
              <a:rPr lang="en-GB" sz="1600">
                <a:latin typeface="Georgia"/>
                <a:ea typeface="Georgia"/>
                <a:cs typeface="Georgia"/>
                <a:sym typeface="Georgia"/>
              </a:rPr>
              <a:t>Which API to use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rgia"/>
              <a:buChar char="●"/>
            </a:pPr>
            <a:r>
              <a:rPr lang="en-GB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Error handling</a:t>
            </a:r>
            <a:endParaRPr sz="1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rgia"/>
              <a:buChar char="●"/>
            </a:pPr>
            <a:r>
              <a:rPr lang="en-GB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Connecting tech stack</a:t>
            </a:r>
            <a:endParaRPr sz="1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/>
          <p:nvPr/>
        </p:nvSpPr>
        <p:spPr>
          <a:xfrm>
            <a:off x="308425" y="178900"/>
            <a:ext cx="2098200" cy="745500"/>
          </a:xfrm>
          <a:prstGeom prst="plaque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eorgia"/>
                <a:ea typeface="Georgia"/>
                <a:cs typeface="Georgia"/>
                <a:sym typeface="Georgia"/>
              </a:rPr>
              <a:t>Future work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1" name="Google Shape;131;p23"/>
          <p:cNvSpPr/>
          <p:nvPr/>
        </p:nvSpPr>
        <p:spPr>
          <a:xfrm>
            <a:off x="355025" y="1129325"/>
            <a:ext cx="5395200" cy="2133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rgia"/>
              <a:buChar char="●"/>
            </a:pPr>
            <a:r>
              <a:rPr lang="en-GB" sz="1600">
                <a:latin typeface="Georgia"/>
                <a:ea typeface="Georgia"/>
                <a:cs typeface="Georgia"/>
                <a:sym typeface="Georgia"/>
              </a:rPr>
              <a:t>User authentication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eorgia"/>
              <a:buChar char="●"/>
            </a:pPr>
            <a:r>
              <a:rPr lang="en-GB" sz="1600">
                <a:latin typeface="Georgia"/>
                <a:ea typeface="Georgia"/>
                <a:cs typeface="Georgia"/>
                <a:sym typeface="Georgia"/>
              </a:rPr>
              <a:t>Access permissions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eorgia"/>
              <a:buChar char="●"/>
            </a:pPr>
            <a:r>
              <a:rPr lang="en-GB" sz="1600">
                <a:latin typeface="Georgia"/>
                <a:ea typeface="Georgia"/>
                <a:cs typeface="Georgia"/>
                <a:sym typeface="Georgia"/>
              </a:rPr>
              <a:t>Ingredient/cocktail costs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eorgia"/>
              <a:buChar char="●"/>
            </a:pPr>
            <a:r>
              <a:rPr lang="en-GB" sz="1600">
                <a:latin typeface="Georgia"/>
                <a:ea typeface="Georgia"/>
                <a:cs typeface="Georgia"/>
                <a:sym typeface="Georgia"/>
              </a:rPr>
              <a:t>Export recipe sheet of menu items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/>
          <p:nvPr/>
        </p:nvSpPr>
        <p:spPr>
          <a:xfrm>
            <a:off x="3206325" y="1967950"/>
            <a:ext cx="2422500" cy="745500"/>
          </a:xfrm>
          <a:prstGeom prst="plaque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